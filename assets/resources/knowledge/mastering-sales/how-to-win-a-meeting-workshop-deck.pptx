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08813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É   ·   M O D U L E  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365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A B L E M E N T   S E R I E 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Meeting Mastery.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run a CFO meeting that advances the deal, every time.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60420" y="50292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360420" y="58521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0760" y="50292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120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080760" y="58521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WORKSHOP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01100" y="50292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801100" y="58521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CERTIFICATION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355080"/>
            <a:ext cx="1005840" cy="398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 I N G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</a:t>
            </a:r>
            <a:endParaRPr lang="en-US" sz="22000" dirty="0"/>
          </a:p>
        </p:txBody>
      </p:sp>
      <p:sp>
        <p:nvSpPr>
          <p:cNvPr id="6" name="Text 3"/>
          <p:cNvSpPr/>
          <p:nvPr/>
        </p:nvSpPr>
        <p:spPr>
          <a:xfrm>
            <a:off x="3017520" y="21945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640080" y="49377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B2B deals turn on the quality of the first two meetings — not pricing, not the deck.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research consensus  ·  Gartner, HBR, Rain Group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an Acuité meeting, the CFO is deciding: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58000" y="2057400"/>
            <a:ext cx="4663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98080" y="2276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I trust this rating agency with my numbers?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2743200"/>
            <a:ext cx="4663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98080" y="2916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this person actually understand my business?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0" y="3383280"/>
            <a:ext cx="4663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98080" y="3557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 this worth the fee — or a commodity tick-box?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0" y="4023360"/>
            <a:ext cx="4663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0" y="4197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Will this help or hurt my bank relationship?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0" y="4663440"/>
            <a:ext cx="4663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4800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498080" y="48371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my finance team handle their process?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858000" y="5303520"/>
            <a:ext cx="46634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 I N G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 honest: how good was your last meeting?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yourself from 0 (never) to 3 (always). Maximum score: 21.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063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knew the bankers and CA before I walked 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26880" y="308152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08152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829800" y="308152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9800" y="308152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332720" y="308152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0" y="308152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835640" y="308152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835640" y="308152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4838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34838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had a written meeting objective — a specific next stage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326880" y="350215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0" y="350215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829800" y="350215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29800" y="350215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332720" y="350215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32720" y="350215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835640" y="350215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35640" y="350215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386791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9044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371600" y="39044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spoke less than 40% of the meeting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326880" y="3922776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26880" y="3922776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829800" y="3922776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29800" y="3922776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0332720" y="3922776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332720" y="3922776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0835640" y="3922776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835640" y="3922776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0080" y="4288536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43251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371600" y="43251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met or asked to meet at least one additional influencer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9326880" y="4343400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26880" y="4343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829800" y="4343400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29800" y="4343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332720" y="4343400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332720" y="4343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835640" y="4343400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835640" y="4343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0080" y="47457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371600" y="47457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handled at least one objection without flinching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326880" y="4764024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326880" y="4764024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9829800" y="4764024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829800" y="4764024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10332720" y="4764024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332720" y="4764024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835640" y="4764024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835640" y="4764024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40080" y="5129784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0080" y="5166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371600" y="5166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left with a committed next step and a date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9326880" y="518464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326880" y="518464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9829800" y="518464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829800" y="518464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10332720" y="518464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332720" y="518464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10835640" y="5184648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0835640" y="518464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640080" y="555040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40080" y="55869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1371600" y="55869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updated CRM within 24 hours with stage &amp; probability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9326880" y="560527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326880" y="560527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829800" y="560527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829800" y="560527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10332720" y="560527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0332720" y="560527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10835640" y="5605272"/>
            <a:ext cx="411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835640" y="560527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40080" y="597103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18–21 mastermeeter   ·   12–17 solid but leaving deals on the table   ·   Below 12 you need this module.</a:t>
            </a:r>
            <a:endParaRPr lang="en-US" sz="1200" dirty="0"/>
          </a:p>
        </p:txBody>
      </p:sp>
      <p:sp>
        <p:nvSpPr>
          <p:cNvPr id="86" name="Shape 83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45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 I N G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seven phases of a world-class meeting.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minutes that double your odds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21945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9456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first 120 seconds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490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74904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4904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CREDIT framework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30352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0352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Chapters, not the whole book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8580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top 10 objections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124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841248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leave without a date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9669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99669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66960" y="4160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24-hour rule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reps do Phase 4 brilliantly and skip Phases 1, 3, and 7. That is why pipelines stall.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1   ·   P R E P A R 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Preparation is the meeting.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Thirty minutes of prep is worth ninety minutes of recovery.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P A R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200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minutes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every meeting. No exceptions.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prep protocol.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last meeting notes &amp; CRM history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240487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 the latest annual report / MCA filing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290779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4088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bank relationships — who is in the consortium?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341071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4088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the CA and any known banker connection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391363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4088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 news: expansion, fund-raise, management change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0" y="441655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088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 one-line meeting objective &amp; desired next step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0" y="491947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04088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2 relevant client cases from same industry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00800" y="5422392"/>
            <a:ext cx="5120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Walking into a CFO meeting without 30 minutes of prep is a decision to lose slowly.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P A R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sources that take under five minutes each.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27432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Portal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31089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Directors, registered address, paid-up capital, charges filed (bank names show up in CHG-1 filings).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95160" y="27432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website + AR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31089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lines, plants, recent capex, auditor, banker list usually on last page.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38404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/ NSE disclosures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80160" y="42062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listed mid-corporates — credit rating history, outstanding debt, related-party filings.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95160" y="38404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(90 days)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95160" y="42062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Expansion, QIP or rights issue, promoter-pledge changes, industry headwinds.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4937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49377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5303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CFO tenure, finance team size, recent joiners — a new treasury head is a rating signal.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4937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995160" y="49377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referring banker / CA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95160" y="5303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most underused source. One call before the meeting beats ten calls after.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58978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cannot name their top 3 bankers before the meeting, postpone it.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P A R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one-page Meeting Plan.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before every meeting. The manager checks completion in your weekly 1:1.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0" y="27432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 name · industry · annual revenue · bank facilities (₹ Cr)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3246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will be in the room · their role · their likely posture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0" y="37490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now? · triggers · current rater · key news in the last 90 days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42519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 stage I want to advance to · what 'yes' looks like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43200" y="47548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120-second opener (Anchor → Signal → Propose)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257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0" y="5257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discovery questions I MUST ask · one concession I will NOT make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6692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760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0" y="5760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minimum committed next step I will not leave without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2636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Available as a printed pad and LMS form.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P A R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pre-call prep drill.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 E N A R I 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3035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Shree Textiles Ltd, Surat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Revenue: ₹340 Cr · unlisted mid-corporate, family-owned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Bank facilities: ₹95 Cr across SBI, Bank of Baroda, HDFC Bank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Currently rated by India Ratings — renewal in 60 days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617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Meeting: Mr. Mehul Shah, CFO, next Tuesday 11 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Referred by Mr. Parekh, Sr Manager, Bank of Baroda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577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have 15 minutes. Use any public source.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L I V E R A B L E 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75120" y="2606040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3 bankers with approx. exposure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3136392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2376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 of their CA (or how you'd find it)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75120" y="3639312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22376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recent news item worth raising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675120" y="4142232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2376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120-second opener (drafted)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675120" y="4645152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4754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22376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risk that could derail the rating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675120" y="5148072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5257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223760" y="5257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committed next-step ask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675120" y="5650992"/>
            <a:ext cx="4846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2   ·   O P E 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first 120 seconds decide the meeting.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don't get credibility. You earn it before the CFO finishes their tea.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CFO is judging in 120 seconds.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28712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Competence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 you understand my business, my industry, and my banking setup — or are you reading a script?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86600" y="28712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55080" y="33832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Will you ask hard questions honestly, or flatter me into a mandate?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371600" y="44256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" y="493776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Acuité's style match how my company operates? Calm? Fast? Hand-held?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086600" y="44256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Worth my time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55080" y="493776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 this meeting going to move something forward, or is this a brochure drop?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opener must signal all four — at the same time — in 120 seconds.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45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120-second credibility opener.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beats. Two minutes. Practise it until it is muscle memory.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0:00 – 0:30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017520" y="29077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Anchor who you are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017520" y="3429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sentence on Acuité's position. One sentence on you — tenure, segment, credential. Do not pitch the deck.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0:30 – 1:30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017520" y="39593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 why them, why now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17520" y="4480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 ONE specific thing about their business: rating renewal date, recent news, consortium change, something the banker told you. Shows you did the homework.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9834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1:30 – 2:00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017520" y="501091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Propose the agenda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017520" y="55321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what you'd like to cover and check fit. 'I have three things I'd like to discuss and two to understand. Does that work for the next 30 minutes?'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Anchor  →  Signal  →  Propose.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45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real openings. Same framework.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Banker-referred SME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"Mr. Shah from Bank of Baroda asked me to reach out. He said your facilities are up for review and you're weighing a fresh rating. I've worked with six of his clients in the last year — happy to walk you through what we do, but I'd rather start by understanding how you're thinking about this."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2468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CA-referred family business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83464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"Your CA Mr. Desai and I have worked together since 2020. He mentioned you've been thinking about restructuring the ₹45 Cr facility. Before I tell you anything about Acuité, can you tell me what triggered this conversation now?"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2519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Re-rating from a competitor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61772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 understand you've been with [competitor] for the last four years. That's a long relationship and I don't take that lightly. I'm not here to bad-mouth them — I'm here to understand whether there's a gap they're leaving open, and whether Acuité fits it."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42519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meeting via conference lead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61772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"Thank you for making time. Before we get to slides, can I ask — what made you say yes to this meeting? That will help me spend your 30 minutes on what actually matters."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O P E 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opening habits that quietly kill meetings.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5156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"Let me take you through our corporate deck…"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You've surrendered the meeting to the slides. The CFO has mentally left.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18211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051560" y="3218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"We're one of the top rating agencies in India."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515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rep says this. None of them earn credibility by saying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051560" y="39684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Opening with pricing or turnaround time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43342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 you see yourself as a vendor, not an advisor. Now every conversation is a negotiation.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68172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1051560" y="47183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Launching into Acuité's history before asking a question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51560" y="50840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CFO doesn't care when Acuité was founded. They care about their ₹95 Cr consortium.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431536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051560" y="5468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Saying 'we are cheaper than CRISIL' in the first 5 minutes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51560" y="5833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You've just told them your primary value is price. You will never recover from this.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6181344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3   ·   D I S C O V E 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is the whole game.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talk more than 40% of the meeting, you have already lost.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Let them talk. That is how you learn what to sell.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6517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4114800" y="2880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TALKS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18000" dirty="0"/>
          </a:p>
        </p:txBody>
      </p:sp>
      <p:sp>
        <p:nvSpPr>
          <p:cNvPr id="11" name="Text 8"/>
          <p:cNvSpPr/>
          <p:nvPr/>
        </p:nvSpPr>
        <p:spPr>
          <a:xfrm>
            <a:off x="10058400" y="2880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8580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846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30% is for three things only.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5486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548640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85216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Open-ended. Specific. Never leading.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67200" y="5486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07280" y="548640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67200" y="585216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"So what I'm hearing is…" then wait for the correction.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94320" y="5486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34400" y="548640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94320" y="585216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"That's helpful. Can I ask about your banking relationships now?"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topics every discovery call must cover.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Don't wing discovery. Use the CREDIT framework.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508760" y="2862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Banking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3200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are your primary bankers, and what's the consortium split?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269748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7223760" y="2862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Driver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3200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really driving this — renewal, bank ask, bond issue?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1508760" y="4005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Plans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08760" y="4343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on the next-12-months plan — capex, fund-raise, geography?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55080" y="384048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7223760" y="4005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Team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23760" y="4343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will actually sign the rating agreement — you, or someone else?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98348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074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</a:t>
            </a:r>
            <a:endParaRPr lang="en-US" sz="5400" dirty="0"/>
          </a:p>
        </p:txBody>
      </p:sp>
      <p:sp>
        <p:nvSpPr>
          <p:cNvPr id="25" name="Text 22"/>
          <p:cNvSpPr/>
          <p:nvPr/>
        </p:nvSpPr>
        <p:spPr>
          <a:xfrm>
            <a:off x="1508760" y="5148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508760" y="5486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I could speak to one other person about this, who should it be?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55080" y="498348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5074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</a:t>
            </a:r>
            <a:endParaRPr lang="en-US" sz="5400" dirty="0"/>
          </a:p>
        </p:txBody>
      </p:sp>
      <p:sp>
        <p:nvSpPr>
          <p:cNvPr id="29" name="Text 26"/>
          <p:cNvSpPr/>
          <p:nvPr/>
        </p:nvSpPr>
        <p:spPr>
          <a:xfrm>
            <a:off x="7223760" y="5148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23760" y="5486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do you need the rating — the real deadline, not the comfortable one?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lang="en-US" sz="22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Banking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 E N - E N D E D   Q U E S T I O N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15087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are your primary bankers today, and what's the consortium split?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1945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the facility mix — fund-based, non-fund-based, term loans?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761488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825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28254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was the last review? Did anything change in the last cycle?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3328416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3392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63440" y="33924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 any bank asked for a specific rating from a specific agency?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3895344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63440" y="3959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tension in the consortium — anyone pulling back exposure?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0" y="4462272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63440" y="4526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could restructure the facility mix tomorrow, what would you change?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0" y="502920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S T E N   F O 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"We've been with this bank since…" (relationship depth). "Our consortium lead is…" (who really drives decisions). "Last renewal was painful…" (pain point you can solve).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22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Rating Driver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 E N - E N D E D   Q U E S T I O N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15087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driving this conversation now — renewal, bank ask, bond issue, or something else?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1945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would a 'good outcome' mean for you — personally and for the company?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761488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825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28254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 a specific bank named a minimum rating threshold for your facility?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3328416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3392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63440" y="33924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Have you had a rating in the past? What worked, what didn't?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3895344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63440" y="3959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the bank, is anyone else — customer, supplier, regulator — using this rating?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0" y="4462272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63440" y="4526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 honest: is this a compliance exercise or a business decision?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0" y="502920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S T E N   F O 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need a minimum of BBB…" (hidden threshold). "Honestly, it's just for the bank…" (commodity risk — upsell the value).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endParaRPr lang="en-US" sz="22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Expansion Plans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 E N - E N D E D   Q U E S T I O N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15087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on the next-12-months plan — capex, new plant, geography, product?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1945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are you thinking about funding it — internal accruals, bank debt, equity, bonds?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761488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825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28254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Have you started conversations with any bank or investor specifically for this?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3328416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3392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63440" y="33924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your comfort level with leverage — where do you NOT want net debt / EBITDA to go?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3895344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63440" y="3959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 there a scenario where you'd tap the bond market in the next two years?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0" y="4462272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63440" y="4526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the single biggest risk to the plan, in your own view?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0" y="502920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S T E N   F O 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 capex or bond plans mean their rating matters MORE, not less. This is your strongest value-pitch moment.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 + I</a:t>
            </a:r>
            <a:endParaRPr lang="en-US" sz="22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Team + Influencers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 E N - E N D E D   Q U E S T I O N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15087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will actually sign the rating agreement — you, or someone else?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1945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have past vendor decisions been made here — CFO, MD, committee?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761488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825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28254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 there a promoter or family voice in this decision?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3328416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3392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63440" y="33924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involved is your CA, typically, in rating and financing decisions?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3895344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63440" y="3959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the bank relationship manager have a strong view on agency choice?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0" y="4462272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63440" y="4526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I could speak to ONE other person about this, who should it be?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0" y="502920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S T E N   F O 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signature and the decision often sit in different rooms. Find the real decision-maker, and find the quiet influencers (CA, treasury head, family).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</a:t>
            </a:r>
            <a:endParaRPr lang="en-US" sz="22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 E N - E N D E D   Q U E S T I O N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15087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do you need the rating letter — the real deadline, not the comfortable one?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19456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3440" y="2258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to your facility — or your plan — if you miss that date by 30 days?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761488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825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28254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 there a specific event driving this — board meeting, bank review, audit close?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3328416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3392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63440" y="33924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we agreed to proceed today, what's your realistic start date for information sharing?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3895344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63440" y="3959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else is involved in the decision, and what's their availability over the next two weeks?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0" y="4462272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4526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63440" y="4526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I could compress our TAT by two weeks, what would that unlock?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0" y="5029200"/>
            <a:ext cx="74066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S T E N   F O 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urgency sounds specific (a date, an event). Polite stall sounds general ("soon", "soon enough"). The question "what happens if you miss that date?" separates real deals from dreams.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I S C O V E R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role-play.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Shree Textiles, part 2 — you've done your prep. Now run the meeting.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 U R   R O L 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Acuité BD lead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 J E C T I V 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 all six CREDIT areas in 20 minutes. Uncover at least three facts that don't appear in public filings.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0749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 O R I N 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 per CREDIT area covered with a good question  ·  +2 per non-public fact uncovered  ·  −1 for any direct statement about Acuité in the first 10 minutes.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651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 O   P E R S O N A   ·   F A C I L I T A T O 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297180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Mr. Mehul Shah, CFO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355080" y="37490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years in the business, joined from a CA background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413308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Fiercely loyal to his banker — Mr. Parekh at Bank of Baroda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55080" y="451713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Quietly unhappy with India Ratings' TAT last cycle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49011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a ₹40 Cr capacity expansion in FY27 — not yet disclosed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52852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Hates jargon. Respects preparation.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57607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Facilitator reveals information only in response to specific, well-framed questions.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4   ·   P R E S E N 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Pitch what they asked for. Not the whole deck.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brochure has six chapters. A great meeting uses two.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S E N T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chapters. Pick two — and go deep.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Credibility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SEBI, RBI, 10,400+ ratings issued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1292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12920" y="274320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312920" y="315468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Rating process, criteria, rigour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8576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85760" y="274320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985760" y="315468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Analyst bench, industry depth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79476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40080" y="420624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TAT, hand-holding, surveillance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1292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12920" y="379476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Acceptance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312920" y="420624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Bank usage, consortium fit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8576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985760" y="379476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Value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985760" y="4206240"/>
            <a:ext cx="348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Price in the context of benefit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45262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rule.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Based on what you heard in discovery, pick the TWO chapters that matter most to this CFO. Cover them in depth. Leave a one-pager for the rest.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TAT pain in discovery → Service + Methodology   ·   Bond-market plans → Credibility + Acceptance   ·   Price-sensitive SME → Experience + Value (never Value alone).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S E N T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compressed narrative for time-starved CFOs.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0:00 – 1:00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926080" y="2468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926080" y="2880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SEBI-registered, RBI-accredited, Indian credit rating agency. 10,400+ ratings. Built for mid-corporate and emerging India. We sit with you — we don't post letters.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7355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1:00 – 2:30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26080" y="3337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makes us different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26080" y="3749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TWO of: analyst continuity (no rotation every cycle), sector depth, TAT discipline, approach to surveillance. Connect each to what they said in discovery.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14223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2:30 – 4:00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926080" y="4206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relevant case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92608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client story from their industry, their size, their banking complexity. Not the flagship logo — the relevant one.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01091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4:00 – 5:00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926080" y="50749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I'd recommend next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926080" y="54864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specific, advancing next step. Not 'let me send a proposal' — 'I'd like to bring our sector lead to meet you and your treasury head next week. Does Tuesday work?'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87959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P R E S E N T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the case study that matches their story.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most relevant case, not your favourite one.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926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 rating — mid-corporate SME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32735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with 'first-timer comfort' case. Process transparency, documentation clarity, analyst hand-holding.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547872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584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584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Re-rating from a competitor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931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with a migration case. Continuity and service difference. Never attack the incumbent.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2428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424281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Consortium-driven bank requirement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5902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with bank-acceptance cases. Name the banks. Show the consortium list where Acuité is accepted.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86460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9011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90118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Bond market / capital-market aspirant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524865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with investor acceptance, methodology depth, rating history of similar issuers.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5522976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559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559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Rating downgrade / migration risk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1600" y="590702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with analyst approachability, defensibility of methodology, rating-action communication.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6181344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5   ·   H A N D L 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Objections are a gift.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They tell you what the CFO is really weighing. Your job is to hear the real one.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H A N D L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ARE-C method. Four steps. Every time.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77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2011680" y="2468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Acknowledge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1168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 the concern without agreeing with the premise. "That's a fair question — many of our clients asked the same before signing."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2011680" y="3383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Reframe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01168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Shift the frame from the surface objection to the real concern. Usually it's risk, effort, or identity — not what they said first.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206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endParaRPr lang="en-US" sz="6400" dirty="0"/>
          </a:p>
        </p:txBody>
      </p:sp>
      <p:sp>
        <p:nvSpPr>
          <p:cNvPr id="16" name="Text 13"/>
          <p:cNvSpPr/>
          <p:nvPr/>
        </p:nvSpPr>
        <p:spPr>
          <a:xfrm>
            <a:off x="201168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1168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concrete proof: a client story, a number, a methodology detail. Never generic. Never more than one.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120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lang="en-US" sz="6400" dirty="0"/>
          </a:p>
        </p:txBody>
      </p:sp>
      <p:sp>
        <p:nvSpPr>
          <p:cNvPr id="20" name="Text 17"/>
          <p:cNvSpPr/>
          <p:nvPr/>
        </p:nvSpPr>
        <p:spPr>
          <a:xfrm>
            <a:off x="201168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01168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"Does that answer what was worrying you, or is there something else?" Then move 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biggest mistake: jumping straight to E. You must earn the right with A and R first.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H A N D L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one of these will show up this quarter.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 ready for all of them.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9748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"CRISIL / CARE / ICRA is cheaper."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already have a rating with another agency."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264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9748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"Our banker said any rating will do."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3264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0372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41248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"This is a compliance formality for us."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6484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36484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9748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"Your rating might come out lower than what we have."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55080" y="36484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03720" y="36484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"Your team will tie up our finance people for weeks."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40325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88720" y="4032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697480" y="40325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"Call me after our year-end / audit."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55080" y="40325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03720" y="4032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NO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412480" y="40325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"Send the proposal, I'll review and revert."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080" y="4416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88720" y="4416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69748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 need to discuss with the team / promoter / board."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55080" y="4416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903720" y="4416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MATH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41248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bank already takes a processing fee. Why pay you too?"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40080" y="4800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45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H A N D L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Price. Incumbent. Bank. Word for word.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"CRISIL is cheaper."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 — price matters.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0614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26180" y="278892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But the question is not who is cheapest. It is who gives you the rating your bank accepts AND the service you'll actually use.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7220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278892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migration story where service gaps cost an enhancement cycle.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93826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58300" y="278892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"If service and acceptance are equal, price should decide. Is that the case?"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already have a rating with [competitor]."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4206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0120" y="420624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is a real relationship and I won't ask you to break it lightly.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06140" y="4206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726180" y="420624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question is: did last cycle work for you? If yes, stay. If there was friction, it's worth a conversation.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4206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92240" y="420624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client who moved after their fourth analyst rotation in two years.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38260" y="4206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58300" y="420624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"Would you be open to a 20-minute call with our sector lead? Zero commitment."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"Our banker said any rating will do."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080" y="5623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0120" y="562356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banker is right — for the compliance box today.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06140" y="5623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726180" y="562356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But the rating follows you. Next enhancement, new bank, bond issue — a rigorous rating makes every next conversation easier.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72200" y="5623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92240" y="562356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capex-funding case where rating quality opened an incremental bank.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938260" y="5623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258300" y="5623560"/>
            <a:ext cx="2263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"If the rating only lives for one cycle, price decides. If it travels with you, process depth decides. Which is closer?"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" y="649224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H A N D L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Fear. Effort. Delay. Soft no.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774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"Your rating might come out lower."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Don't promise a rating. Promise a process. Methodology, rating-committee independence, appeals. Fear of unknown is beaten with clarity, not reassurance.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23774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"Your team will eat our finance bandwidth."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29260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 the hours. "Historically, fresh ratings take 8–12 hours of your treasury team's time over 3 weeks. Here's our documentation checklist — 70% is data you already share with the bank." Specificity kills this objection.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"Call me after year-end / audit."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why. If it's a genuine calendar constraint, offer to start pre-discovery now so the clock starts ticking the day audit closes. If it's a soft-no, your discovery wasn't deep enough — circle back.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41605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"Send the proposal, I'll review."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55080" y="470916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leave without a specific review conversation booked. "I'll send it Wednesday. Can I have 20 minutes on Friday to walk you through it?" If they won't book Friday, you don't have a live deal.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H A N D L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objection gauntlet.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Pairs. Random cards. 60 seconds to respond. Rotate. Ten rounds.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 O R I N G   ·   O B S E R V E 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33375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Acknowledged without agreeing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508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86600" y="33375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Reframed to a different (truer) concern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840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Used one specific, relevant proof point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Confirmed resolution before moving 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343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3434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Over-explained or went longer than 90 seconds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4343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86600" y="43434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Started with "Actually..." or "But..."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029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T E R I A L 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Deck of 20 objection cards (Participant Workbook, Section 6). Observer scoring sheet. Timer.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6   ·   C L O S 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leave without a date.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meeting that ends without a committed next step is a meeting that did not happen.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C L O S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 with an advancing, dated commitment.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4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 K E   N E X T   S T E P 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"I'll send you the proposal."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2918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"Let's stay in touch."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"I'll follow up next week."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"Let me know when you're ready."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6634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"We'll revert after internal discussion."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5394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412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of these means: I have nothing scheduled.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A L   N E X T   S T E P 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834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"Proposal by Wednesday; call Friday 3 PM?"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32918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"Can I meet your treasury head next Tuesday at 11?"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3749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"Let's set a 30-min call with your CA on Thursday."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206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"I'll introduce you to our sector lead — Monday 4 PM?"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46634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"Would you visit our Mumbai office on the 22nd?"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5394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of these is a calendar invite, not a hope.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58978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cannot get a date on the calendar before you leave, you are in a cold pipeline.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C L O S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the close that matches where the CFO is.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514600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Proposal Close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E 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complete, CFO is the real decision-maker.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N D S   L I K 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4846320"/>
            <a:ext cx="344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"Based on what you've shared, I'll put together a proposal. Can we lock Friday 3 PM for me to walk you through it?"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58640" y="2514600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58640" y="2880360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Influencer Close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358640" y="352044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E 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358640" y="379476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Meeting revealed a stakeholder — CA, treasury head, promoter, board.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58640" y="457200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N D S   L I K 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58640" y="4846320"/>
            <a:ext cx="344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"I'd love for [name] to hear this directly. Can we set a 30-minute joint call next week?"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77200" y="2514600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77200" y="2880360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Close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077200" y="352044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E 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77200" y="3794760"/>
            <a:ext cx="344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CFO is sold but wants to see paperwork before committing.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77200" y="4572000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N D S   L I K 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77200" y="4846320"/>
            <a:ext cx="344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"Let me share the documentation checklist today. After you've reviewed, can we spend 20 minutes walking through what's missing?"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C L O S 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 yes vs real commitment.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Indian business culture, a polite 'yes' is often social smoothing, not commitment. Your job is to translate courtesy into calendar.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2004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4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F T   Y E 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"Sure, sure, let us see."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00507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"Acha, please send it across."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44398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"No problem, we'll think about it."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88289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"Definitely, we'll be in touch."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3218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Nodding without asking any follow-up questions.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32004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A L   C O M M I T M E N 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35661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specific date and time agreed.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400507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name of the next person to loop in.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444398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document requested with a deadline.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88289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question about the application or documents.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53218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CFO picks up the phone to call someone during the meeting.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45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7   ·   D E B R I E F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meeting isn't over when you leave the room.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24 hours after the meeting decide whether it advances or decays.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45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E B R I E F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things must happen before sunset tomorrow.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828800" y="2560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Thank-you + summary email to the CFO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0175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paragraph: what we discussed, the three things you heard, the specific next step with date. Reply-expected tone. Copy only people who were in the room.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828800" y="3703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CRM updated — stage, probability, notes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28800" y="41605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 the stage only if the criteria are met. Log everything in CREDIT format. Flag the influencers identified.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846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828800" y="4846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Internal flag — next step booked or blocker raised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828800" y="53035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the next step is on the calendar: move on. If it is not: flag it in the sales huddle this week. Cold pipeline dies quietly — kill it loudly.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 these three, in this order, before you pick up the next deal. Make it muscle memory.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D E B R I E F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2-minute meeting debrief.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Fill this before you pick up the next deal.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BEFORE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66160" y="2743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stage was the deal in going in?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AFTER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3246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stage is it in now — and what specific criterion was met?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6616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Hot / Warm / Cold / Dead — and the ONE fact that makes it that.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GAPS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66160" y="4251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of the six (C-R-E-D-I-T) did I NOT cover well?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66160" y="4754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do I know now that I didn't walking in? (3 bullets max)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566160" y="5257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exactly is booked? If nothing is booked, why not?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6692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566160" y="5760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specific thing — for next time with this CFO or this profile.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 this on your car dashboard. Literally. Do it in the parking lot before you drive away.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   8   ·   A P P L 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classroom to field.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640080" y="484632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capstone case, the seven habits, and your first-week commitment.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45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A P P L Y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the full meeting. Start to finish.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C A S 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743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Kailash Auto Components Pvt Ltd, Pune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Rating-to-rating migration opportunity.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Tier-1 auto components · ₹680 Cr · 12% EBITDA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069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Bank facilities ₹180 Cr · SBI, Axis, ICICI (SBI lead)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4348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Rated by competitor 6 years · same analyst 3 cycles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8006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₹120 Cr EV capex — not yet announced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51663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Meeting: Mr. Arvind Kulkarni (CFO) + Mr. Deshmukh (GM)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5532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Referred by SBI branch head · CFO agreed to 45 min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897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Competitor quote 20% below Acuité standard pricing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2286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U L L - A R C   R O L E - P L A 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55080" y="2606040"/>
            <a:ext cx="5166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2743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 minutes · all 7 phases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min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3800" y="3246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Pre-call prep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min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43800" y="3657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Opener (120s)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min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543800" y="4069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 discovery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 min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43800" y="4480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Acuité story (chapters)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55080" y="4892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min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543800" y="4892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planted objections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55080" y="5303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min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43800" y="5303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Close with a date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5508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 min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543800" y="5715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Observer feedback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A P P L Y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Seven habits of the best meeters.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514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 for 30 minutes. Every time. No exceptions.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54480" y="2971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with a signal, not a pitch.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34015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54480" y="3429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Let them talk 70% of the meeting.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38587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54480" y="3886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CREDIT — don't wing discovery.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0080" y="43159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554480" y="4343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two chapters. Not six.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40080" y="47731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800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554480" y="4800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ARE-C every objection. Never argue.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40080" y="52303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5257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554480" y="5257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leave without a booked next step.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40080" y="5687568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A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CFO doesn't remember your deck. They remember how prepared, how curious, and how disciplined you were.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E T I N G   M A S T E R Y   ·   A P P L Y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Starting Monday — and how we'll reinforce it.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E E K   1   ·   C O M M I T M E N 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834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a Meeting Plan before every meeting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3364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 yourself delivering your 120-second opener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38953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 all six CREDIT areas in at least two meetings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5840" y="44256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 the 24-hour debrief after every meeting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05840" y="49560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a 30-min role-play with your manager by Friday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2468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71A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I N F O R C E M E N T   P L A 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28346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LMS micro-modules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3154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× 8-min videos on the key frameworks.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3611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Weekly 1:1 with manager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55080" y="39319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Meeting Plans and debriefs. Live role-play every 2 weeks.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4389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cohort call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55080" y="470916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win, one loss, one objection you got stuck on.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51663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Day-60 certification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55080" y="54864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role-play with external observer. Pass = badge.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4183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71A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109728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deal isn't in the deck.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383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It's in the conversation.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640080" y="4663440"/>
            <a:ext cx="5486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Acuité Way of Selling · Module 5 · Meeting Mastery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up: Module 6 — Forecasting &amp; Pipeline Management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u i t e . i 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Acuite Ratings and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Mastery — Acuité Way of Selling</dc:title>
  <dc:subject>PptxGenJS Presentation</dc:subject>
  <dc:creator>Acuité Sales Enablement</dc:creator>
  <cp:lastModifiedBy>Acuité Sales Enablement</cp:lastModifiedBy>
  <cp:revision>1</cp:revision>
  <dcterms:created xsi:type="dcterms:W3CDTF">2026-04-22T13:29:21Z</dcterms:created>
  <dcterms:modified xsi:type="dcterms:W3CDTF">2026-04-22T13:29:21Z</dcterms:modified>
</cp:coreProperties>
</file>